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3200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Customer Churn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EE3F8"/>
                </a:solidFill>
                <a:latin typeface="Calibri"/>
              </a:rPr>
              <a:t>End-to-End Machine Learning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5029200" cy="36576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0"/>
                </a:solidFill>
                <a:latin typeface="Calibri"/>
              </a:rPr>
              <a:t>Final Capstone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By Harprabh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CDF4"/>
                </a:solidFill>
                <a:latin typeface="Calibri"/>
              </a:rPr>
              <a:t>github.com/Harprabh-Singh/customer-churn-api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Flask  ·  Scikit-Learn  ·  Random Forest  ·  REST API  ·  Batch Scoring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📋  Agenda — 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Problem Statement — Why Churn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Dataset Overview — Telco Customer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Data Cleaning &amp;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Model Selection, Training &amp;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Flask REST API — Real-Time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Batch Scoring Pipeline &amp;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Monitoring &amp; Maintenance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5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Key Learnings &amp; 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🎯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D3748"/>
                </a:solidFill>
                <a:latin typeface="Calibri"/>
              </a:rPr>
              <a:t>●  Customer churn = customers who cancel or stop using a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DD6B20"/>
                </a:solidFill>
                <a:latin typeface="Calibri"/>
              </a:rPr>
              <a:t>●  Acquiring a new customer is 5–10x MORE expensive than retaining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76F49"/>
                </a:solidFill>
                <a:latin typeface="Calibri"/>
              </a:rPr>
              <a:t>●  5% reduction in churn → 25–95% increase in profits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365D"/>
                </a:solidFill>
                <a:latin typeface="Calibri"/>
              </a:rPr>
              <a:t>The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D3748"/>
                </a:solidFill>
                <a:latin typeface="Calibri"/>
              </a:rPr>
              <a:t>  ▸  Predict WHICH customers will churn BEFORE they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2D3748"/>
                </a:solidFill>
                <a:latin typeface="Calibri"/>
              </a:rPr>
              <a:t>  ▸  Enable proactive retention actions (discounts, outreach)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965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6CB0"/>
                </a:solidFill>
                <a:latin typeface="Calibri"/>
              </a:rPr>
              <a:t>  ▸  Output: churn_prediction: 'Yes'/'No' + churn_probability: 0.0–1.0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📊  Dataset Overview — Telco Customer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Dataset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●  Source: Telco Customer Churn (Kaggle)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●  Total Records: 7,043+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●  Total Columns: 21 (20 features +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●  Target Column: 'Churn' (Yes / 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●  Churn Rate: ~26.5% (class imbalance)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●  Data Types: Numeric + Categorical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Feature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Demographics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21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gender, SeniorCitizen, Partner, Dependents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Account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992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tenure, Contract, PaperlessBilling, PaymentMethod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Services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76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PhoneService, MultipleLines, InternetService,
OnlineSecurity, TechSupport, Streaming...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Charges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537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MonthlyCharges, TotalCharges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🧹  Data Cleaning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1: Drop 'customerID' — not a predictive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D6B20"/>
                </a:solidFill>
                <a:latin typeface="Calibri"/>
              </a:rPr>
              <a:t>●  Step 2: Convert 'TotalCharges' to numeric (blanks → NaN)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3: Map Churn → binary   ('Yes'=1, 'No'=0)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4: Identify column types via select_dtypes()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B6CB0"/>
                </a:solidFill>
                <a:latin typeface="Calibri"/>
              </a:rPr>
              <a:t>    Numeric:      SeniorCitizen, tenure, MonthlyCharges, TotalCharges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741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B6CB0"/>
                </a:solidFill>
                <a:latin typeface="Calibri"/>
              </a:rPr>
              <a:t>    Categorical:  gender, Partner, Contract, PaymentMethod, all services...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764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Calibri"/>
              </a:rPr>
              <a:t>●  Step 5: ColumnTransformer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2394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76F49"/>
                </a:solidFill>
                <a:latin typeface="Calibri"/>
              </a:rPr>
              <a:t>    Numeric → SimpleImputer(strategy='mean')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531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76F49"/>
                </a:solidFill>
                <a:latin typeface="Calibri"/>
              </a:rPr>
              <a:t>    Categorical → OneHotEncoder(handle_unknown='ignore')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554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D6B20"/>
                </a:solidFill>
                <a:latin typeface="Calibri"/>
              </a:rPr>
              <a:t>●  Step 6: Save as transformer.pkl — SAME pipeline used at inference!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🤖  Model Training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Model: Random Forest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n_estimators: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200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max_depth: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10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class_weight: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balanced (handles imbalance)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random_state: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108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42 (reproducible)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Calibri"/>
              </a:rPr>
              <a:t>Split: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74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80% Train / 20% Test (stratified)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65D"/>
                </a:solidFill>
                <a:latin typeface="Calibri"/>
              </a:rPr>
              <a:t>Why Random Forest?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6F49"/>
                </a:solidFill>
                <a:latin typeface="Calibri"/>
              </a:rPr>
              <a:t>✓  Ensemble — reduces overfitting vs single 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6F49"/>
                </a:solidFill>
                <a:latin typeface="Calibri"/>
              </a:rPr>
              <a:t>✓  Outputs probability scores (not just Yes/No)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00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6F49"/>
                </a:solidFill>
                <a:latin typeface="Calibri"/>
              </a:rPr>
              <a:t>✓  Handles categorical &amp; numeric features 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58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6F49"/>
                </a:solidFill>
                <a:latin typeface="Calibri"/>
              </a:rPr>
              <a:t>✓  Robust to noisy/missing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463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Evaluation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965960"/>
            <a:ext cx="5577840" cy="68580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20116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ROC-AUC Score: 0.75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834640"/>
            <a:ext cx="5669280" cy="347472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28712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65D"/>
                </a:solidFill>
                <a:latin typeface="Calibri"/>
              </a:rPr>
              <a:t>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712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3748"/>
                </a:solidFill>
                <a:latin typeface="Calibri"/>
              </a:rPr>
              <a:t>No Churn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8712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3748"/>
                </a:solidFill>
                <a:latin typeface="Calibri"/>
              </a:rPr>
              <a:t>Churn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200400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323697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65D"/>
                </a:solidFill>
                <a:latin typeface="Calibri"/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369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3748"/>
                </a:solidFill>
                <a:latin typeface="Calibri"/>
              </a:rPr>
              <a:t>0.75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2369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6B20"/>
                </a:solidFill>
                <a:latin typeface="Calibri"/>
              </a:rPr>
              <a:t>0.50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566160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36027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65D"/>
                </a:solidFill>
                <a:latin typeface="Calibri"/>
              </a:rPr>
              <a:t>Recall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027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3748"/>
                </a:solidFill>
                <a:latin typeface="Calibri"/>
              </a:rPr>
              <a:t>0.75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6027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6B20"/>
                </a:solidFill>
                <a:latin typeface="Calibri"/>
              </a:rPr>
              <a:t>0.50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931920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39684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65D"/>
                </a:solidFill>
                <a:latin typeface="Calibri"/>
              </a:rPr>
              <a:t>F1-Score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68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3748"/>
                </a:solidFill>
                <a:latin typeface="Calibri"/>
              </a:rPr>
              <a:t>0.75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968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6B20"/>
                </a:solidFill>
                <a:latin typeface="Calibri"/>
              </a:rPr>
              <a:t>0.50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4297680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43342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65D"/>
                </a:solidFill>
                <a:latin typeface="Calibri"/>
              </a:rPr>
              <a:t>Overall Acc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342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D3748"/>
                </a:solidFill>
                <a:latin typeface="Calibri"/>
              </a:rPr>
              <a:t>0.67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43342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6B20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754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F49"/>
                </a:solidFill>
                <a:latin typeface="Calibri"/>
              </a:rPr>
              <a:t>✓ AUC &gt; 0.75 = Production threshold met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📁  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12880" cy="5394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417320"/>
            <a:ext cx="11338559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0E6A0"/>
                </a:solidFill>
                <a:latin typeface="Courier New"/>
              </a:rPr>
              <a:t>customer-churn-api/
│
├── app/
│   ├── __init__.py       # Makes app a Python package
│   ├── main.py           # Flask REST API  →  POST /predict
│   ├── utils.py          # load_artifacts() + predict_single()
│   ├── model.pkl         # Trained Random Forest Classifier
│   └── transformer.pkl   # Fitted ColumnTransformer pipeline
│
├── test_data/
│   ├── all_customers.csv # Batch scoring input dataset
│   └── sample_input.json # Sample payload for /predict test
│
├── logs/
│   └── batch_log.txt     # Monitoring logs from batch.py
│
├── batch.py              # python batch.py --input &lt;csv&gt;
├── train.py              # Model training &amp; artifact export
├── requirements.txt      # pip install -r requirements.txt
└── README.md             # Docs + Maintenance 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🚀  Flask REST API — Real-Time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How to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120640" cy="4572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0E6A0"/>
                </a:solidFill>
                <a:latin typeface="Courier New"/>
              </a:rPr>
              <a:t>python -m app.main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19795"/>
                </a:solidFill>
                <a:latin typeface="Calibri"/>
              </a:rPr>
              <a:t>Server: http://localhost:8000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Endpoints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91840"/>
            <a:ext cx="914400" cy="347472"/>
          </a:xfrm>
          <a:prstGeom prst="rect">
            <a:avLst/>
          </a:prstGeom>
          <a:solidFill>
            <a:srgbClr val="276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3101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101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→ Health check — returns status: 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14800"/>
            <a:ext cx="1097280" cy="34747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13308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3308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/predict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→ Accepts customer JSON, returns churn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Request &amp; Response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7451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POST /predict  →  Input JSON: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240280"/>
            <a:ext cx="5806440" cy="24231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331720"/>
            <a:ext cx="5532120" cy="2240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0E6A0"/>
                </a:solidFill>
                <a:latin typeface="Courier New"/>
              </a:rPr>
              <a:t>{
  "customer": {
    "gender": "Female",
    "SeniorCitizen": 0,
    "tenure": 12,
    "MonthlyCharges": 70.7,
    "Contract": "Month-to-month",
    ...all 19 feature fields...
  }
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754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Response JSON: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5120640"/>
            <a:ext cx="5806440" cy="114300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5532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0E6A0"/>
                </a:solidFill>
                <a:latin typeface="Courier New"/>
              </a:rPr>
              <a:t>{
  "churn_prediction":  "Yes",
  "churn_probability":  0.735
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⚙️  Batch Scoring Pipeline — batch.py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19795"/>
                </a:solidFill>
                <a:latin typeface="Calibri"/>
              </a:rPr>
              <a:t>●  Command:  python batch.py --input test_data/all_customers.csv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1:  Read input CSV with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2:  Build nested JSON  {'customer': {...}}  for each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775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3:  POST to localhost:8000/predict per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535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4:  Collect prediction + probability from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192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D6B20"/>
                </a:solidFill>
                <a:latin typeface="Calibri"/>
              </a:rPr>
              <a:t>●  Step 5:  Handle failures gracefully (log error, continue — never crash)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85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Calibri"/>
              </a:rPr>
              <a:t>●  Step 6:  Write scored_customers.csv (customerID + prediction + probability)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D3748"/>
                </a:solidFill>
                <a:latin typeface="Calibri"/>
              </a:rPr>
              <a:t>●  Step 7:  Write logs/batch_log.txt with summary statistics: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982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B6CB0"/>
                </a:solidFill>
                <a:latin typeface="Calibri"/>
              </a:rPr>
              <a:t>  Total requests  ·  Successful calls  ·  Failed predictions  ·  Avg churn probability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✅  Live Verification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Single Prediction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Sample customer profile: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  ▸  Gender: Female, Senior: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  ▸  Tenure: 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  ▸  Contract: Month-to-month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91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  ▸  Internet: Fiber optic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  ▸  Monthly Charges: $70.70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  ▸  Security / Backup: 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65D"/>
                </a:solidFill>
                <a:latin typeface="Calibri"/>
              </a:rPr>
              <a:t>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599432"/>
            <a:ext cx="5120640" cy="6400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645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churn_prediction:  "Yes"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65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churn_probability: 0.735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65D"/>
                </a:solidFill>
                <a:latin typeface="Calibri"/>
              </a:rPr>
              <a:t>Batch Scoring Summary (30 customers)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Total Requests: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D3748"/>
                </a:solidFill>
                <a:latin typeface="Calibri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377440"/>
            <a:ext cx="5669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Successful Calls: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76F49"/>
                </a:solidFill>
                <a:latin typeface="Calibri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834640"/>
            <a:ext cx="5669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Failed Predictions: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76F49"/>
                </a:solidFill>
                <a:latin typeface="Calibri"/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291840"/>
            <a:ext cx="5669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Churn = Yes: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D6B20"/>
                </a:solidFill>
                <a:latin typeface="Calibri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749040"/>
            <a:ext cx="5669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3840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Churn = No: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B6CB0"/>
                </a:solidFill>
                <a:latin typeface="Calibri"/>
              </a:rPr>
              <a:t>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206240"/>
            <a:ext cx="5669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748"/>
                </a:solidFill>
                <a:latin typeface="Calibri"/>
              </a:rPr>
              <a:t>Avg Churn Prob: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319795"/>
                </a:solidFill>
                <a:latin typeface="Calibri"/>
              </a:rPr>
              <a:t>0.4102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663440"/>
            <a:ext cx="5669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4846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F49"/>
                </a:solidFill>
                <a:latin typeface="Calibri"/>
              </a:rPr>
              <a:t>✓  scored_customers.csv generated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212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F49"/>
                </a:solidFill>
                <a:latin typeface="Calibri"/>
              </a:rPr>
              <a:t>✓  logs/batch_log.txt generated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🛠️  Maintenance &amp; Monitoring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25880"/>
            <a:ext cx="3858768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3858768" cy="502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🔁  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Retrain monthly OR if churn rate shifts ±5%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Run python train.py with fresh labeled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Minimum ROC-AUC of 0.75 before promoting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Automate via cron job or CI/CD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325880"/>
            <a:ext cx="3858768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536" y="1325880"/>
            <a:ext cx="3858768" cy="50292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📉  Drift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Monitor feature distributions using PSI 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PSI &gt; 0.2 on any feature → investigate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Compare actual vs predicted churn after 90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474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Log all payloads to a database for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48472" y="1325880"/>
            <a:ext cx="3858768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48472" y="1325880"/>
            <a:ext cx="3858768" cy="502920"/>
          </a:xfrm>
          <a:prstGeom prst="rect">
            <a:avLst/>
          </a:prstGeom>
          <a:solidFill>
            <a:srgbClr val="276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9912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🔖  Versioning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965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Semantic versioning: v1.0.0 → v1.1.0 → v2.0.0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Git tag every release  (git tag v1.0.0)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971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Store .pkl files with version suffix in models/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474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Calibri"/>
              </a:rPr>
              <a:t>●  Rollback = single config change, always safe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💡  Key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Preprocessing pipeline = as important as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3748"/>
                </a:solidFill>
                <a:latin typeface="Calibri"/>
              </a:rPr>
              <a:t>  Save transformer.pkl — ensures training/inference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Packaging model as an API makes it universally reusable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3748"/>
                </a:solidFill>
                <a:latin typeface="Calibri"/>
              </a:rPr>
              <a:t>  Any system (web app, mobile, batch) can call it via 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D6B20"/>
                </a:solidFill>
                <a:latin typeface="Calibri"/>
              </a:rPr>
              <a:t>●  Production code MUST handle errors gracefully — never crash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D3748"/>
                </a:solidFill>
                <a:latin typeface="Calibri"/>
              </a:rPr>
              <a:t>  batch.py logs failures and continues — this is production-grade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D3748"/>
                </a:solidFill>
                <a:latin typeface="Calibri"/>
              </a:rPr>
              <a:t>●  A model is never done — continuous monitoring is essential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DD6B20"/>
                </a:solidFill>
                <a:latin typeface="Calibri"/>
              </a:rPr>
              <a:t>  ROC-AUC today ≠ ROC-AUC in 6 months — drift happens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Deliverables —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0" cy="36576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Trained Random Forest Classifier (ROC-AUC 0.75)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Preprocessing pipeline → transformer.pkl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1226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Flask REST API on port 8000 (POST /predict)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0545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Batch scoring with --input CLI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Structured logging → logs/batch_log.txt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Maintenance Plan (Retraining + Drift + Versioning)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8503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E6B4"/>
                </a:solidFill>
                <a:latin typeface="Calibri"/>
              </a:rPr>
              <a:t>✓  Full README.md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0CDF4"/>
                </a:solidFill>
                <a:latin typeface="Calibri"/>
              </a:rPr>
              <a:t>github.com/Harprabh-Singh/
customer-churn-api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7FAFC"/>
                </a:solidFill>
                <a:latin typeface="Calibri"/>
              </a:rPr>
              <a:t>Questions &amp; Discussion Welcome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1387</Words>
  <Application>Microsoft Office PowerPoint</Application>
  <PresentationFormat>Custom</PresentationFormat>
  <Paragraphs>178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Harprabh Singh</cp:lastModifiedBy>
  <cp:revision>2</cp:revision>
  <dcterms:created xsi:type="dcterms:W3CDTF">2013-01-27T09:14:16Z</dcterms:created>
  <dcterms:modified xsi:type="dcterms:W3CDTF">2026-08-15T18:05:39Z</dcterms:modified>
  <cp:category/>
</cp:coreProperties>
</file>